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433" r:id="rId3"/>
    <p:sldId id="260" r:id="rId4"/>
    <p:sldId id="2440" r:id="rId5"/>
    <p:sldId id="2434" r:id="rId6"/>
    <p:sldId id="2437" r:id="rId7"/>
    <p:sldId id="2439" r:id="rId8"/>
    <p:sldId id="2441" r:id="rId9"/>
    <p:sldId id="2436" r:id="rId10"/>
    <p:sldId id="2442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D7398A-F3F5-4859-9F4F-8A7B9BA6C93F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DB46E-207F-4744-BE68-2365C276C8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93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962D5ADD-58A6-5060-B6F4-74195CBC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8AE8FF25-6B96-FDD1-3955-B8439D099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4A6F70D4-2DA9-5E1C-49C4-046383441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7239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BB9B5022-4942-882F-8660-09CC1D51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2606763F-675D-9997-E758-7390D7E56D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AAB7E969-D23A-A928-5186-4BFE170EF9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604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647D2956-AFF5-B3D5-9961-F456A2343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20E3E95F-FAA4-AFED-F950-F7A7DD817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4AB42EC7-23E0-C839-F876-12AA34F8DC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3956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396F51C2-5926-1CAC-E848-FBE819CA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5420506A-4CD0-C698-4731-9956D43B1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7FCFF195-2D38-49AF-ED18-CCBD47B84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1901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70D9A4CB-69CA-FCAF-BF57-E046D616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194EB56-416B-5E32-CBA1-4B8EBEDF9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EDB3898F-0C38-767F-9388-E613DCC0F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2442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BE0C9FF7-F8A0-5CFF-CACF-A8D93C86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3559B4C5-7353-5CED-6075-F058863E88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E14BB1B2-A116-D93C-EABB-5C8DBEC86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1782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D7C61415-BC62-D923-9655-B929B3FC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4D641F2-1E48-9B76-8C88-937A5DAF30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61AE5E43-DBAD-E6A9-CE55-AE8923C9D0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2181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E2CA0F-ED90-0BF8-35E5-55ABD37D2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A65148A-47BF-1FD1-91A9-CD827C1A6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983D05-B7EC-4589-DF50-3933467CD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298C-53A1-41DF-A1E0-A28E406214A7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CF8A5E-F3F1-A16D-71D5-380A2287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842DDF-F696-BA03-1FFD-2F06D5968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568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629843-17FD-8A0E-0028-C8AC5142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1A6898-B665-28AC-7961-8FC963555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C80217-7E23-374A-1EDC-2A5DF61A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D3D2-ED3B-4A05-B4A1-3D2EE721E99A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92D835-FFE4-E220-3F47-5CA4F9DF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151FEF-D2DE-B560-6D67-8B849F58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797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5EF381-AA2D-D200-4D79-BF2A8FE2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45CBC1-3252-4C14-503F-F302AA542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FCA4CE-3080-5133-6190-17A46BB6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19C70-F274-4A4E-9489-9B7983FD7FE4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FFA21D-ECEC-6F80-8DF4-C67ECE695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41DF5F-2E5C-8526-BB7E-20C98381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1917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66E55-B3F6-21C1-6825-E45A5F75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F4EFF5-33CC-8130-FF5C-03BB065EC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C623FA-4FAC-2A7F-7E39-D767983AF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57172ED-33D1-D572-662B-32031EEB9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790B-E4EE-400F-8DDF-89AC7987C5EB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A53269-2EB3-6E0F-9F48-C78E674B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92616FC-6EFE-AC64-00B3-39530DD4D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39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10F48D-0788-AAFA-AF82-D94C308F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E270386-9779-D268-C0D8-2A159E664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2451FC-BB67-27C5-C5CC-DFE16C84B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2FFE23D-63F3-8F33-4DCD-1C490AB6F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D3BDC37-AB86-4383-053C-6BA23D905F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EBD4F85-25E0-94CF-CBA7-86A2AC2A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DF7-DA67-46D0-BAD1-4C1FE7FF1F71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2E7D2D5-038E-510B-E332-1F9023B9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A681298-2C8C-C956-A4D2-9E5AC63C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055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9B67EB-AC87-0BE3-F7BB-453C1ECAF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BB1985B-79E4-B629-F338-8A406BA5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7CE23-0BC7-4675-9E38-3AA2D5AD97F2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672F95-8306-897D-2226-53D71CF0C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BB4052E-16F7-8233-A315-0086FFD4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022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9D9E313-7FAB-E282-3B8D-ECE41DD0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42C-F76F-4E58-B9EB-6BCFAAB7EB19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BA98BA0-2060-B6C1-B273-9E3FF1309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ACB39E-5D87-425A-02EF-2715169E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78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365A00-D6AD-DA93-C9EE-00163ABA3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818F8F-DB2E-613C-6E11-0932164EB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A751A1-8532-2943-A2BF-4F4C2C2E9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3D2DAC-E920-7747-8858-42DAB8F0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D7A-FBBB-472B-8910-C33C012C1181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D60AA-4E92-8348-0598-FA4D849B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A4D159-A6A1-7B68-4A09-BF35B929A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55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CDC9BC-D1DF-C5FB-D760-A4327B70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F28ECD1-69E7-99EB-A4F8-C70267D39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74F9259-1461-442C-58E1-38003C11C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CEB988-F566-F978-A8A9-26C8230E0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F39D-8BCE-4964-8298-B9EC9EDF2C80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2F5CA3-4A04-1218-B97A-6FB7CD6D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7AB3CD-7A17-440C-1200-A138D91A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262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7F967C-7F01-8E65-4A58-4F0027B6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9C4F7E-1216-769E-6D86-32F63962B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A2714A-8000-2E56-D2A9-C60EF1D83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6C98F-D713-43DE-B975-8F3E8CC53F9A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10DF6C-5449-206B-DC18-2C07CE1C2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89560-C3A7-F771-382B-E2BCCC3A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5700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104A637-643E-BE73-5E82-189852CA6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10A4CD3-06B2-2CED-F187-5CA10D4EB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92EFFE-6819-5391-F59E-41ABA2B6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D68E-478D-43DD-9F09-656577B14AA0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71E611-5ED7-6183-8EFD-11D68C12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4E0754-4F75-077E-2329-CDDF59C8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147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空白">
  <p:cSld name="1_空白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title"/>
          </p:nvPr>
        </p:nvSpPr>
        <p:spPr>
          <a:xfrm>
            <a:off x="609600" y="343008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Microsoft JhengHei"/>
              <a:buNone/>
              <a:defRPr sz="44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ldNum" idx="12"/>
          </p:nvPr>
        </p:nvSpPr>
        <p:spPr>
          <a:xfrm>
            <a:off x="9208805" y="6470440"/>
            <a:ext cx="2743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2519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2CEB831-6712-BCAB-BBE2-94A7476FD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0C922A-C175-A02D-2C8F-295C93FF9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1F89C4-4433-8553-2ABF-4CBDBA0C5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D26C0-225D-45AA-BB6A-678A8014FC11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F7E29C-C63B-F34D-D769-95F84D542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B45010-9354-206F-7E14-C8860F7AF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346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C93E2D8-8B2C-396D-496D-B7D1116A36E9}"/>
              </a:ext>
            </a:extLst>
          </p:cNvPr>
          <p:cNvSpPr/>
          <p:nvPr/>
        </p:nvSpPr>
        <p:spPr>
          <a:xfrm>
            <a:off x="2024062" y="171560"/>
            <a:ext cx="8143875" cy="142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TW" sz="32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經濟部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中小及新創企業署</a:t>
            </a:r>
            <a:br>
              <a:rPr lang="en-US" sz="3200" b="1" i="0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</a:br>
            <a:r>
              <a:rPr lang="zh-TW" altLang="zh-TW" sz="3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  <a:sym typeface="Microsoft YaHei"/>
              </a:rPr>
              <a:t>新創賦能中小企業升級轉型計畫</a:t>
            </a:r>
            <a:br>
              <a:rPr lang="en-US" sz="3200" b="1" i="0" u="none" strike="noStrike" kern="1200" cap="none" spc="0" baseline="0" dirty="0">
                <a:solidFill>
                  <a:srgbClr val="000000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</a:br>
            <a:endParaRPr lang="en-US" sz="1800" b="1" i="0" u="none" strike="noStrike" kern="1200" cap="none" spc="0" baseline="0" dirty="0">
              <a:solidFill>
                <a:srgbClr val="595959"/>
              </a:solidFill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BF7684F7-9643-A8B7-7F9E-B16399F3D99A}"/>
              </a:ext>
            </a:extLst>
          </p:cNvPr>
          <p:cNvSpPr/>
          <p:nvPr/>
        </p:nvSpPr>
        <p:spPr>
          <a:xfrm>
            <a:off x="1809750" y="1895302"/>
            <a:ext cx="8572500" cy="448363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algn="ctr">
              <a:spcBef>
                <a:spcPts val="8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TW" altLang="en-US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合作共創案</a:t>
            </a:r>
            <a:endParaRPr lang="en-US" altLang="zh-TW" sz="3600" b="1" kern="0" dirty="0">
              <a:solidFill>
                <a:srgbClr val="A6A6A6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  <a:p>
            <a:pPr marL="0" marR="0" lvl="0" indent="0" algn="ctr" defTabSz="914400" rtl="0" fontAlgn="auto" hangingPunct="1">
              <a:spcBef>
                <a:spcPts val="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TW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(</a:t>
            </a:r>
            <a:r>
              <a:rPr lang="zh-TW" altLang="en-US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提案</a:t>
            </a:r>
            <a:r>
              <a:rPr lang="zh-TW" sz="3600" b="1" i="0" u="none" strike="noStrike" kern="1200" cap="none" spc="0" baseline="0" dirty="0">
                <a:solidFill>
                  <a:srgbClr val="A6A6A6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名稱</a:t>
            </a:r>
            <a:r>
              <a:rPr lang="en-US" sz="3600" b="1" i="0" u="none" strike="noStrike" kern="1200" cap="none" spc="0" baseline="0" dirty="0">
                <a:solidFill>
                  <a:srgbClr val="A6A6A6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)</a:t>
            </a:r>
          </a:p>
          <a:p>
            <a:pPr lvl="0" algn="ctr">
              <a:spcBef>
                <a:spcPts val="18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TW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(</a:t>
            </a:r>
            <a:r>
              <a:rPr lang="zh-TW" altLang="en-US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主導提案企業名稱</a:t>
            </a:r>
            <a:r>
              <a:rPr lang="en-US" altLang="zh-TW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)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0" u="none" strike="noStrike" kern="1200" cap="none" spc="0" baseline="0" dirty="0">
              <a:solidFill>
                <a:srgbClr val="0D0D0D"/>
              </a:solidFill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altLang="zh-TW" sz="2400" b="1" i="0" u="none" strike="noStrike" kern="1200" cap="none" spc="0" baseline="0" dirty="0">
              <a:solidFill>
                <a:srgbClr val="0D0D0D"/>
              </a:solidFill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TW" altLang="en-US" sz="2400" b="1" dirty="0">
                <a:solidFill>
                  <a:srgbClr val="0D0D0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簡報</a:t>
            </a:r>
            <a:r>
              <a:rPr lang="zh-TW" sz="2400" b="1" i="0" u="none" strike="noStrike" kern="1200" cap="none" spc="0" baseline="0" dirty="0">
                <a:solidFill>
                  <a:srgbClr val="0D0D0D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人：○○○</a:t>
            </a:r>
            <a:endParaRPr lang="en-US" altLang="zh-TW" sz="2400" b="1" i="0" u="none" strike="noStrike" kern="1200" cap="none" spc="0" baseline="0" dirty="0">
              <a:solidFill>
                <a:srgbClr val="0D0D0D"/>
              </a:solidFill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dirty="0">
              <a:solidFill>
                <a:srgbClr val="0D0D0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TW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115</a:t>
            </a:r>
            <a:r>
              <a:rPr lang="zh-TW" altLang="zh-TW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年</a:t>
            </a:r>
            <a:r>
              <a:rPr lang="en-US" altLang="zh-TW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O</a:t>
            </a:r>
            <a:r>
              <a:rPr lang="zh-TW" altLang="en-US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月</a:t>
            </a:r>
            <a:r>
              <a:rPr lang="en-US" altLang="zh-TW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O</a:t>
            </a:r>
            <a:r>
              <a:rPr lang="zh-TW" altLang="en-US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日</a:t>
            </a:r>
            <a:endParaRPr lang="en-US" altLang="zh-TW" sz="2400" b="1" i="0" u="none" strike="noStrike" kern="1200" cap="none" spc="0" baseline="0" dirty="0"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37196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8F7388C-393D-B705-FF81-91C07731E1A1}"/>
              </a:ext>
            </a:extLst>
          </p:cNvPr>
          <p:cNvSpPr txBox="1">
            <a:spLocks/>
          </p:cNvSpPr>
          <p:nvPr/>
        </p:nvSpPr>
        <p:spPr>
          <a:xfrm>
            <a:off x="609600" y="343008"/>
            <a:ext cx="10972800" cy="665397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簡報目錄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A0D5CF6-0D3D-6C61-50FA-D514617650EA}"/>
              </a:ext>
            </a:extLst>
          </p:cNvPr>
          <p:cNvSpPr txBox="1">
            <a:spLocks/>
          </p:cNvSpPr>
          <p:nvPr/>
        </p:nvSpPr>
        <p:spPr>
          <a:xfrm>
            <a:off x="3992663" y="1828032"/>
            <a:ext cx="4602697" cy="305077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rtlCol="0" anchor="t">
            <a:normAutofit/>
          </a:bodyPr>
          <a:lstStyle>
            <a:defPPr marL="432000" lvl="0" indent="-324000" algn="l" rtl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None/>
              <a:defRPr lang="zh-TW" sz="3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defPPr>
            <a:lvl1pPr marL="432000" lvl="0" indent="-324000" algn="l" defTabSz="914400" rtl="0" eaLnBrk="1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3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1pPr>
            <a:lvl2pPr marL="864000" lvl="1" indent="-324000" algn="l" defTabSz="914400" rtl="0" eaLnBrk="1" latinLnBrk="0" hangingPunct="1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SzPct val="75000"/>
              <a:buFont typeface="StarSymbol"/>
              <a:buChar char="–"/>
              <a:defRPr lang="zh-TW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2pPr>
            <a:lvl3pPr marL="1295999" lvl="2" indent="-288000" algn="l" defTabSz="914400" rtl="0" eaLnBrk="1" latinLnBrk="0" hangingPunct="1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3pPr>
            <a:lvl4pPr marL="1728000" lvl="3" indent="-216000" algn="l" defTabSz="914400" rtl="0" eaLnBrk="1" latinLnBrk="0" hangingPunct="1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SzPct val="75000"/>
              <a:buFont typeface="StarSymbol"/>
              <a:buChar char="–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4pPr>
            <a:lvl5pPr marL="2160000" lvl="4" indent="-216000" algn="l" defTabSz="914400" rtl="0" eaLnBrk="1" latinLnBrk="0" hangingPunct="1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5pPr>
            <a:lvl6pPr marL="2592000" lvl="5" indent="-216000" algn="l" defTabSz="914400" rtl="0" eaLnBrk="1" latinLnBrk="0" hangingPunct="1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6pPr>
            <a:lvl7pPr marL="3024000" lvl="6" indent="-216000" algn="l" defTabSz="914400" rtl="0" eaLnBrk="1" latinLnBrk="0" hangingPunct="1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7pPr>
            <a:lvl8pPr marL="3456000" lvl="7" indent="-216000" algn="l" defTabSz="914400" rtl="0" eaLnBrk="1" latinLnBrk="0" hangingPunct="1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8pPr>
            <a:lvl9pPr marL="3887999" lvl="8" indent="-216000" algn="l" defTabSz="914400" rtl="0" eaLnBrk="1" latinLnBrk="0" hangingPunct="1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9pPr>
          </a:lstStyle>
          <a:p>
            <a:pPr marL="108000" indent="0" fontAlgn="b">
              <a:buFont typeface="StarSymbol"/>
              <a:buNone/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一、產業背景需求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痛點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8000" indent="0" fontAlgn="b">
              <a:buNone/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二、共創團合作關聯圖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8000" indent="0" fontAlgn="b">
              <a:buFont typeface="StarSymbol"/>
              <a:buNone/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三、推動目標及策略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8000" indent="0" fontAlgn="b">
              <a:buFont typeface="StarSymbol"/>
              <a:buNone/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四、預期效益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8000" indent="0" fontAlgn="b">
              <a:buFont typeface="StarSymbol"/>
              <a:buNone/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附件、導入企業名單規劃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588DEF-E8ED-A05F-0895-A209DB4A0423}"/>
              </a:ext>
            </a:extLst>
          </p:cNvPr>
          <p:cNvSpPr/>
          <p:nvPr/>
        </p:nvSpPr>
        <p:spPr>
          <a:xfrm>
            <a:off x="376303" y="5698430"/>
            <a:ext cx="11206097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3080" lvl="0" indent="-342720">
              <a:spcBef>
                <a:spcPts val="519"/>
              </a:spcBef>
              <a:buNone/>
              <a:tabLst>
                <a:tab pos="343080" algn="l"/>
              </a:tabLst>
            </a:pP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＊簡報總頁數以</a:t>
            </a:r>
            <a:r>
              <a:rPr lang="en-US" altLang="zh-TW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頁為原則</a:t>
            </a:r>
            <a:r>
              <a:rPr lang="en-US" altLang="zh-TW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含封面及目錄</a:t>
            </a:r>
            <a:r>
              <a:rPr lang="en-US" altLang="zh-TW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，供委員參考之補充資料可放附件不列入計算。</a:t>
            </a:r>
            <a:endParaRPr lang="en-US" altLang="zh-TW" b="1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3080" lvl="0" indent="-342720">
              <a:spcBef>
                <a:spcPts val="519"/>
              </a:spcBef>
              <a:buNone/>
              <a:tabLst>
                <a:tab pos="343080" algn="l"/>
              </a:tabLst>
            </a:pP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＊建議以微軟正黑體、黑色字體，每頁字體最小不得小於</a:t>
            </a:r>
            <a:r>
              <a:rPr lang="en-US" altLang="zh-TW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14pt</a:t>
            </a: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b="1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3080" lvl="0" indent="-342720">
              <a:spcBef>
                <a:spcPts val="519"/>
              </a:spcBef>
              <a:buNone/>
              <a:tabLst>
                <a:tab pos="343080" algn="l"/>
              </a:tabLst>
            </a:pP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＊簡報中範例圖說及灰字說明文字可自行刪除。</a:t>
            </a:r>
            <a:endParaRPr lang="en-US" altLang="zh-TW" b="1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投影片編號版面配置區 2">
            <a:extLst>
              <a:ext uri="{FF2B5EF4-FFF2-40B4-BE49-F238E27FC236}">
                <a16:creationId xmlns:a16="http://schemas.microsoft.com/office/drawing/2014/main" id="{12E014E2-6C78-5777-5EEE-D6BDDFC1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000"/>
            <a:ext cx="2743200" cy="216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21C2-949F-497F-800F-16CFB5EA9C4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5678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sz="3600" dirty="0" err="1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產業背景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需求</a:t>
            </a:r>
            <a:r>
              <a:rPr lang="en-US" altLang="zh-TW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痛點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0F80DE8-60C3-2069-BC27-C8252577BC59}"/>
              </a:ext>
            </a:extLst>
          </p:cNvPr>
          <p:cNvSpPr txBox="1"/>
          <p:nvPr/>
        </p:nvSpPr>
        <p:spPr>
          <a:xfrm>
            <a:off x="343592" y="986586"/>
            <a:ext cx="890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請說明產業環境與現況，在產業創新與市場拓展的發展上面臨的需求或痛點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F65B64E-749F-814B-8553-0464E0FA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000"/>
            <a:ext cx="2743200" cy="216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21C2-949F-497F-800F-16CFB5EA9C4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AFC0234B-598F-3AD0-5A19-9D13C8B6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2AAC6FBB-B158-A5BE-1193-2183FEC1C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共創團合作關聯圖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6FD26A1E-E385-00EB-50D2-9D82A742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000"/>
            <a:ext cx="2743200" cy="216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21C2-949F-497F-800F-16CFB5EA9C4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C437F3B-3625-25EE-2BCC-098DCC5831C0}"/>
              </a:ext>
            </a:extLst>
          </p:cNvPr>
          <p:cNvSpPr txBox="1"/>
          <p:nvPr/>
        </p:nvSpPr>
        <p:spPr>
          <a:xfrm>
            <a:off x="343592" y="986586"/>
            <a:ext cx="11484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請以流程圖或組織圖呈現共創團組成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如下圖範例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，含角色職責、協作，及預計帶動產業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企業背景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BD6600-D319-187F-B1D6-CB8C3F42C885}"/>
              </a:ext>
            </a:extLst>
          </p:cNvPr>
          <p:cNvSpPr/>
          <p:nvPr/>
        </p:nvSpPr>
        <p:spPr>
          <a:xfrm>
            <a:off x="226142" y="2462304"/>
            <a:ext cx="3215327" cy="39607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38DECB-7177-CD5F-3E5B-1001C17D986A}"/>
              </a:ext>
            </a:extLst>
          </p:cNvPr>
          <p:cNvSpPr/>
          <p:nvPr/>
        </p:nvSpPr>
        <p:spPr>
          <a:xfrm>
            <a:off x="3763452" y="2469534"/>
            <a:ext cx="3215327" cy="396075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案例企業、產業介紹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853F266F-3333-A4F1-FE5E-B51A86B27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199297"/>
              </p:ext>
            </p:extLst>
          </p:nvPr>
        </p:nvGraphicFramePr>
        <p:xfrm>
          <a:off x="7443018" y="2455092"/>
          <a:ext cx="4385188" cy="3916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30">
                  <a:extLst>
                    <a:ext uri="{9D8B030D-6E8A-4147-A177-3AD203B41FA5}">
                      <a16:colId xmlns:a16="http://schemas.microsoft.com/office/drawing/2014/main" val="3147830361"/>
                    </a:ext>
                  </a:extLst>
                </a:gridCol>
                <a:gridCol w="2821858">
                  <a:extLst>
                    <a:ext uri="{9D8B030D-6E8A-4147-A177-3AD203B41FA5}">
                      <a16:colId xmlns:a16="http://schemas.microsoft.com/office/drawing/2014/main" val="2865369350"/>
                    </a:ext>
                  </a:extLst>
                </a:gridCol>
              </a:tblGrid>
              <a:tr h="1958097">
                <a:tc>
                  <a:txBody>
                    <a:bodyPr/>
                    <a:lstStyle/>
                    <a:p>
                      <a:r>
                        <a:rPr lang="zh-TW" alt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應用產業</a:t>
                      </a:r>
                      <a:r>
                        <a:rPr lang="en-US" altLang="zh-TW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</a:t>
                      </a:r>
                      <a:endParaRPr lang="zh-TW" altLang="en-US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中小企業</a:t>
                      </a:r>
                      <a:r>
                        <a:rPr lang="en-US" altLang="zh-TW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主要產品</a:t>
                      </a:r>
                      <a:r>
                        <a:rPr lang="en-US" altLang="zh-TW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794038"/>
                  </a:ext>
                </a:extLst>
              </a:tr>
              <a:tr h="1958097">
                <a:tc>
                  <a:txBody>
                    <a:bodyPr/>
                    <a:lstStyle/>
                    <a:p>
                      <a:r>
                        <a:rPr lang="zh-TW" alt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應用產業</a:t>
                      </a:r>
                      <a:r>
                        <a:rPr lang="en-US" altLang="zh-TW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</a:t>
                      </a:r>
                      <a:endParaRPr lang="zh-TW" altLang="en-US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中小企業</a:t>
                      </a:r>
                      <a:r>
                        <a:rPr lang="en-US" altLang="zh-TW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主要產品</a:t>
                      </a:r>
                      <a:r>
                        <a:rPr lang="en-US" altLang="zh-TW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221858"/>
                  </a:ext>
                </a:extLst>
              </a:tr>
            </a:tbl>
          </a:graphicData>
        </a:graphic>
      </p:graphicFrame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ACD57E0F-517E-5ECB-6BA7-A25B847B464B}"/>
              </a:ext>
            </a:extLst>
          </p:cNvPr>
          <p:cNvSpPr/>
          <p:nvPr/>
        </p:nvSpPr>
        <p:spPr>
          <a:xfrm>
            <a:off x="3226388" y="4488007"/>
            <a:ext cx="752145" cy="397629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AF5D9630-2EDF-845F-908D-D12332CD7903}"/>
              </a:ext>
            </a:extLst>
          </p:cNvPr>
          <p:cNvSpPr/>
          <p:nvPr/>
        </p:nvSpPr>
        <p:spPr>
          <a:xfrm>
            <a:off x="6834825" y="4537882"/>
            <a:ext cx="752145" cy="397629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Google Shape;179;p7">
            <a:extLst>
              <a:ext uri="{FF2B5EF4-FFF2-40B4-BE49-F238E27FC236}">
                <a16:creationId xmlns:a16="http://schemas.microsoft.com/office/drawing/2014/main" id="{BABDFEDF-67D7-9B4D-2F71-46F9CFB401F6}"/>
              </a:ext>
            </a:extLst>
          </p:cNvPr>
          <p:cNvSpPr/>
          <p:nvPr/>
        </p:nvSpPr>
        <p:spPr>
          <a:xfrm>
            <a:off x="336739" y="1377005"/>
            <a:ext cx="2910632" cy="461666"/>
          </a:xfrm>
          <a:prstGeom prst="rect">
            <a:avLst/>
          </a:prstGeom>
          <a:solidFill>
            <a:schemeClr val="accent4"/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解</a:t>
            </a:r>
            <a:r>
              <a:rPr lang="zh-TW" altLang="en-US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方提供</a:t>
            </a:r>
            <a:endParaRPr sz="2000" b="1" kern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79;p7">
            <a:extLst>
              <a:ext uri="{FF2B5EF4-FFF2-40B4-BE49-F238E27FC236}">
                <a16:creationId xmlns:a16="http://schemas.microsoft.com/office/drawing/2014/main" id="{ABF6E20D-58E5-7326-6552-12579D05F1F0}"/>
              </a:ext>
            </a:extLst>
          </p:cNvPr>
          <p:cNvSpPr/>
          <p:nvPr/>
        </p:nvSpPr>
        <p:spPr>
          <a:xfrm>
            <a:off x="336739" y="1821582"/>
            <a:ext cx="2910632" cy="461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latin typeface="Calibri"/>
                <a:ea typeface="Calibri"/>
                <a:cs typeface="Calibri"/>
                <a:sym typeface="Calibri"/>
              </a:rPr>
              <a:t>主導</a:t>
            </a:r>
            <a:r>
              <a:rPr lang="en-US" altLang="zh-TW" sz="2000" b="1" kern="1200" dirty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zh-TW" altLang="en-US" sz="2000" b="1" kern="1200" dirty="0">
                <a:latin typeface="Calibri"/>
                <a:ea typeface="Calibri"/>
                <a:cs typeface="Calibri"/>
                <a:sym typeface="Calibri"/>
              </a:rPr>
              <a:t>新創</a:t>
            </a:r>
            <a:r>
              <a:rPr lang="en-US" altLang="zh-TW" sz="2000" b="1" kern="1200" dirty="0"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zh-TW" altLang="en-US" sz="2000" b="1" kern="1200" dirty="0">
                <a:latin typeface="Calibri"/>
                <a:ea typeface="Calibri"/>
                <a:cs typeface="Calibri"/>
                <a:sym typeface="Calibri"/>
              </a:rPr>
              <a:t>企業</a:t>
            </a:r>
            <a:endParaRPr sz="2000" b="1" kern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79;p7">
            <a:extLst>
              <a:ext uri="{FF2B5EF4-FFF2-40B4-BE49-F238E27FC236}">
                <a16:creationId xmlns:a16="http://schemas.microsoft.com/office/drawing/2014/main" id="{E9DF6FC9-7189-4EF9-AFE4-6270801DEF39}"/>
              </a:ext>
            </a:extLst>
          </p:cNvPr>
          <p:cNvSpPr/>
          <p:nvPr/>
        </p:nvSpPr>
        <p:spPr>
          <a:xfrm>
            <a:off x="3838938" y="1377005"/>
            <a:ext cx="2995888" cy="461666"/>
          </a:xfrm>
          <a:prstGeom prst="rect">
            <a:avLst/>
          </a:prstGeom>
          <a:solidFill>
            <a:schemeClr val="accent4"/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驗證示範</a:t>
            </a:r>
          </a:p>
        </p:txBody>
      </p:sp>
      <p:sp>
        <p:nvSpPr>
          <p:cNvPr id="14" name="Google Shape;179;p7">
            <a:extLst>
              <a:ext uri="{FF2B5EF4-FFF2-40B4-BE49-F238E27FC236}">
                <a16:creationId xmlns:a16="http://schemas.microsoft.com/office/drawing/2014/main" id="{DEAF0549-D697-70DD-7E91-622C6B53D544}"/>
              </a:ext>
            </a:extLst>
          </p:cNvPr>
          <p:cNvSpPr/>
          <p:nvPr/>
        </p:nvSpPr>
        <p:spPr>
          <a:xfrm>
            <a:off x="3838938" y="1821582"/>
            <a:ext cx="2995888" cy="461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latin typeface="Calibri"/>
                <a:ea typeface="Calibri"/>
                <a:cs typeface="Calibri"/>
                <a:sym typeface="Calibri"/>
              </a:rPr>
              <a:t>案例企業、輔導團隊</a:t>
            </a:r>
            <a:endParaRPr sz="2000" b="1" kern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79;p7">
            <a:extLst>
              <a:ext uri="{FF2B5EF4-FFF2-40B4-BE49-F238E27FC236}">
                <a16:creationId xmlns:a16="http://schemas.microsoft.com/office/drawing/2014/main" id="{D97E2932-B072-56BA-3E3D-28793DC28708}"/>
              </a:ext>
            </a:extLst>
          </p:cNvPr>
          <p:cNvSpPr/>
          <p:nvPr/>
        </p:nvSpPr>
        <p:spPr>
          <a:xfrm>
            <a:off x="7586971" y="1788332"/>
            <a:ext cx="4117349" cy="524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latin typeface="Calibri"/>
                <a:ea typeface="Calibri"/>
                <a:cs typeface="Calibri"/>
                <a:sym typeface="Calibri"/>
              </a:rPr>
              <a:t>導入中小企業</a:t>
            </a:r>
            <a:endParaRPr sz="2000" b="1" kern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4C5F6BBD-4A08-D546-6C0C-9B56C6040A2B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6834826" y="1607405"/>
            <a:ext cx="752145" cy="433"/>
          </a:xfrm>
          <a:prstGeom prst="straightConnector1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B88E0749-CD87-B468-14F2-8675AA78BC99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3247371" y="1607838"/>
            <a:ext cx="591567" cy="0"/>
          </a:xfrm>
          <a:prstGeom prst="straightConnector1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Google Shape;179;p7">
            <a:extLst>
              <a:ext uri="{FF2B5EF4-FFF2-40B4-BE49-F238E27FC236}">
                <a16:creationId xmlns:a16="http://schemas.microsoft.com/office/drawing/2014/main" id="{D3CCEA29-1BD4-1C02-B2C9-1ECF9A678FAB}"/>
              </a:ext>
            </a:extLst>
          </p:cNvPr>
          <p:cNvSpPr/>
          <p:nvPr/>
        </p:nvSpPr>
        <p:spPr>
          <a:xfrm>
            <a:off x="7586971" y="1377005"/>
            <a:ext cx="4117349" cy="460800"/>
          </a:xfrm>
          <a:prstGeom prst="rect">
            <a:avLst/>
          </a:prstGeom>
          <a:solidFill>
            <a:schemeClr val="accent4"/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賦能帶動</a:t>
            </a:r>
            <a:endParaRPr sz="2000" b="1" kern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978638CD-ADC9-257B-C920-BD0CEAC9F274}"/>
              </a:ext>
            </a:extLst>
          </p:cNvPr>
          <p:cNvGrpSpPr/>
          <p:nvPr/>
        </p:nvGrpSpPr>
        <p:grpSpPr>
          <a:xfrm>
            <a:off x="-36565" y="2617244"/>
            <a:ext cx="3903569" cy="3271179"/>
            <a:chOff x="300174" y="2652871"/>
            <a:chExt cx="3903569" cy="3271179"/>
          </a:xfrm>
        </p:grpSpPr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652F4A98-0A92-71B2-F693-9820BD15F156}"/>
                </a:ext>
              </a:extLst>
            </p:cNvPr>
            <p:cNvSpPr txBox="1"/>
            <p:nvPr/>
          </p:nvSpPr>
          <p:spPr>
            <a:xfrm>
              <a:off x="300174" y="5585496"/>
              <a:ext cx="39035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zh-TW" altLang="en-US" sz="1600" kern="1200" dirty="0">
                  <a:solidFill>
                    <a:prstClr val="white">
                      <a:lumMod val="50000"/>
                    </a:prstClr>
                  </a:solidFill>
                  <a:latin typeface="微軟正黑體" panose="020B0604030504040204" pitchFamily="34" charset="-120"/>
                  <a:ea typeface="微軟正黑體"/>
                  <a:cs typeface="+mn-cs"/>
                </a:rPr>
                <a:t>如：系統整合業者、技術感測設備等</a:t>
              </a: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0D4BF695-7C05-8ACB-0F3C-370D3C0341F8}"/>
                </a:ext>
              </a:extLst>
            </p:cNvPr>
            <p:cNvSpPr txBox="1"/>
            <p:nvPr/>
          </p:nvSpPr>
          <p:spPr>
            <a:xfrm>
              <a:off x="858899" y="2652871"/>
              <a:ext cx="2940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altLang="zh-TW" sz="2400" b="1" kern="120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/>
                  <a:cs typeface="+mn-cs"/>
                </a:rPr>
                <a:t>XXX</a:t>
              </a:r>
              <a:r>
                <a:rPr lang="zh-TW" altLang="en-US" sz="2400" b="1" kern="120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/>
                  <a:cs typeface="+mn-cs"/>
                </a:rPr>
                <a:t>股份有公司</a:t>
              </a:r>
            </a:p>
          </p:txBody>
        </p:sp>
        <p:sp>
          <p:nvSpPr>
            <p:cNvPr id="69" name="Google Shape;179;p7">
              <a:extLst>
                <a:ext uri="{FF2B5EF4-FFF2-40B4-BE49-F238E27FC236}">
                  <a16:creationId xmlns:a16="http://schemas.microsoft.com/office/drawing/2014/main" id="{94B8C1B2-FEB6-B8DD-E06E-3EB1CC2723D2}"/>
                </a:ext>
              </a:extLst>
            </p:cNvPr>
            <p:cNvSpPr/>
            <p:nvPr/>
          </p:nvSpPr>
          <p:spPr>
            <a:xfrm>
              <a:off x="562881" y="5099876"/>
              <a:ext cx="3215327" cy="468611"/>
            </a:xfrm>
            <a:prstGeom prst="rect">
              <a:avLst/>
            </a:prstGeom>
            <a:solidFill>
              <a:srgbClr val="393939">
                <a:lumMod val="40000"/>
                <a:lumOff val="60000"/>
              </a:srgbClr>
            </a:solidFill>
            <a:ln w="19050" cap="flat" cmpd="sng">
              <a:noFill/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9550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支援合作廠商</a:t>
              </a:r>
              <a:r>
                <a:rPr kumimoji="0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/</a:t>
              </a:r>
              <a:r>
                <a: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中小企業</a:t>
              </a:r>
              <a:endPara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25;p6">
              <a:extLst>
                <a:ext uri="{FF2B5EF4-FFF2-40B4-BE49-F238E27FC236}">
                  <a16:creationId xmlns:a16="http://schemas.microsoft.com/office/drawing/2014/main" id="{24DCE3AD-600E-E0AC-8D9F-B6FE3095B36B}"/>
                </a:ext>
              </a:extLst>
            </p:cNvPr>
            <p:cNvSpPr txBox="1"/>
            <p:nvPr/>
          </p:nvSpPr>
          <p:spPr>
            <a:xfrm>
              <a:off x="485491" y="3568992"/>
              <a:ext cx="3614700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 defTabSz="995507">
                <a:buClrTx/>
                <a:buFontTx/>
                <a:buNone/>
              </a:pPr>
              <a:r>
                <a:rPr lang="en-US" altLang="zh-TW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20XX</a:t>
              </a:r>
              <a:r>
                <a:rPr lang="zh-TW" altLang="en-US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年</a:t>
              </a:r>
              <a:r>
                <a:rPr lang="en-US" altLang="zh-TW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</a:t>
              </a:r>
              <a:r>
                <a:rPr lang="zh-TW" altLang="en-US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月成立，資本額</a:t>
              </a:r>
              <a:r>
                <a:rPr lang="en-US" altLang="zh-TW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XX</a:t>
              </a:r>
              <a:r>
                <a:rPr lang="zh-TW" altLang="en-US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萬</a:t>
              </a:r>
              <a:endParaRPr lang="en-US" altLang="zh-TW" sz="1600" b="1" kern="1200" dirty="0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285750" indent="-285750" defTabSz="995507">
                <a:buClr>
                  <a:srgbClr val="7F7F7F"/>
                </a:buClr>
                <a:buSzPts val="1600"/>
                <a:buFont typeface="Noto Sans Symbols"/>
                <a:buChar char="⮚"/>
              </a:pPr>
              <a:r>
                <a:rPr lang="en-US" altLang="zh-TW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XX</a:t>
              </a:r>
              <a:r>
                <a:rPr lang="zh-TW" altLang="en-US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年</a:t>
              </a:r>
              <a:r>
                <a:rPr lang="en-US" altLang="zh-TW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XX</a:t>
              </a:r>
              <a:r>
                <a:rPr lang="zh-TW" altLang="en-US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創新創業計畫績優團隊</a:t>
              </a:r>
            </a:p>
            <a:p>
              <a:pPr marL="285750" indent="-285750" defTabSz="995507">
                <a:buClr>
                  <a:srgbClr val="7F7F7F"/>
                </a:buClr>
                <a:buSzPts val="1600"/>
                <a:buFont typeface="Noto Sans Symbols"/>
                <a:buChar char="⮚"/>
              </a:pPr>
              <a:r>
                <a:rPr lang="en-US" altLang="zh-TW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XX</a:t>
              </a:r>
              <a:r>
                <a:rPr lang="zh-TW" altLang="en-US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年</a:t>
              </a:r>
              <a:r>
                <a:rPr lang="en-US" altLang="zh-TW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XX</a:t>
              </a:r>
              <a:r>
                <a:rPr lang="zh-TW" altLang="en-US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市 </a:t>
              </a:r>
              <a:r>
                <a:rPr lang="en-US" altLang="zh-TW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SBIR </a:t>
              </a:r>
              <a:r>
                <a:rPr lang="zh-TW" altLang="en-US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創新技術組團隊</a:t>
              </a:r>
            </a:p>
          </p:txBody>
        </p: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5C45807A-1F9F-ECE3-6E85-9C598331482E}"/>
              </a:ext>
            </a:extLst>
          </p:cNvPr>
          <p:cNvSpPr txBox="1"/>
          <p:nvPr/>
        </p:nvSpPr>
        <p:spPr>
          <a:xfrm>
            <a:off x="8810171" y="362659"/>
            <a:ext cx="2825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TW" altLang="en-US" sz="1600" b="1" kern="0" dirty="0">
                <a:solidFill>
                  <a:srgbClr val="FF0000"/>
                </a:solidFill>
                <a:latin typeface="微軟正黑體" pitchFamily="34"/>
                <a:ea typeface="微軟正黑體" pitchFamily="34"/>
                <a:cs typeface="Times New Roman" pitchFamily="18"/>
              </a:rPr>
              <a:t>參考範例，但不限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426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ACA2B022-DCB3-D7D7-0BD3-117FC650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613FD854-CC96-9ACB-AFB1-219FBD4D1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ct val="220000"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推動目標及策略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0F77D551-9F33-C48E-DCFF-C3CF4FA4D932}"/>
              </a:ext>
            </a:extLst>
          </p:cNvPr>
          <p:cNvSpPr txBox="1">
            <a:spLocks/>
          </p:cNvSpPr>
          <p:nvPr/>
        </p:nvSpPr>
        <p:spPr>
          <a:xfrm>
            <a:off x="9448800" y="6642000"/>
            <a:ext cx="2743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zh-TW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>
              <a:defRPr/>
            </a:pPr>
            <a:fld id="{407B21C2-949F-497F-800F-16CFB5EA9C4C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5</a:t>
            </a:fld>
            <a:endParaRPr lang="zh-TW" altLang="en-US" dirty="0">
              <a:solidFill>
                <a:prstClr val="black">
                  <a:lumMod val="65000"/>
                  <a:lumOff val="3500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Google Shape;91;p5">
            <a:extLst>
              <a:ext uri="{FF2B5EF4-FFF2-40B4-BE49-F238E27FC236}">
                <a16:creationId xmlns:a16="http://schemas.microsoft.com/office/drawing/2014/main" id="{D79E5DBB-0EBC-EA5D-1338-A01FFF3E189A}"/>
              </a:ext>
            </a:extLst>
          </p:cNvPr>
          <p:cNvSpPr txBox="1">
            <a:spLocks/>
          </p:cNvSpPr>
          <p:nvPr/>
        </p:nvSpPr>
        <p:spPr>
          <a:xfrm>
            <a:off x="343592" y="2117493"/>
            <a:ext cx="3613266" cy="5924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Microsoft JhengHei"/>
              <a:buNone/>
              <a:defRPr sz="4400" b="1" kern="120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buClr>
                <a:schemeClr val="dk1"/>
              </a:buClr>
              <a:buSzPct val="220000"/>
            </a:pP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創新方案介紹與應用</a:t>
            </a:r>
            <a:endParaRPr lang="zh-TW" altLang="en-US" sz="24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B24CC52-B1BF-4D16-28CF-AE296AA87685}"/>
              </a:ext>
            </a:extLst>
          </p:cNvPr>
          <p:cNvSpPr txBox="1"/>
          <p:nvPr/>
        </p:nvSpPr>
        <p:spPr>
          <a:xfrm>
            <a:off x="343592" y="2623417"/>
            <a:ext cx="1069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請說明解方核心價值，及在產業中的實際應用情境，例如操作流程、使用場景或案例示意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F551EDF-8CBC-86DF-5A1F-F753176A4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591669"/>
              </p:ext>
            </p:extLst>
          </p:nvPr>
        </p:nvGraphicFramePr>
        <p:xfrm>
          <a:off x="315883" y="1089617"/>
          <a:ext cx="11560234" cy="805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22">
                  <a:extLst>
                    <a:ext uri="{9D8B030D-6E8A-4147-A177-3AD203B41FA5}">
                      <a16:colId xmlns:a16="http://schemas.microsoft.com/office/drawing/2014/main" val="2540133429"/>
                    </a:ext>
                  </a:extLst>
                </a:gridCol>
                <a:gridCol w="10523912">
                  <a:extLst>
                    <a:ext uri="{9D8B030D-6E8A-4147-A177-3AD203B41FA5}">
                      <a16:colId xmlns:a16="http://schemas.microsoft.com/office/drawing/2014/main" val="1493956333"/>
                    </a:ext>
                  </a:extLst>
                </a:gridCol>
              </a:tblGrid>
              <a:tr h="805785"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目標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(</a:t>
                      </a:r>
                      <a:r>
                        <a:rPr lang="zh-TW" altLang="en-US" sz="14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請簡要說明導入創新方案後形成的合作發展目標，以及預期解決之產業問題及其效益。字數約</a:t>
                      </a:r>
                      <a:r>
                        <a:rPr lang="en-US" altLang="zh-TW" sz="14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60-70</a:t>
                      </a:r>
                      <a:r>
                        <a:rPr lang="zh-TW" altLang="en-US" sz="14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字</a:t>
                      </a:r>
                      <a:r>
                        <a:rPr lang="en-US" altLang="zh-TW" sz="14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)</a:t>
                      </a:r>
                      <a:endParaRPr lang="zh-TW" altLang="en-US" sz="14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63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649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37ED4350-0F22-B7F8-60B5-3E2CBABB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646F7FDA-AF4C-E28F-B572-B814C1978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推動目標及策略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3C0BB8A9-4225-3C74-FFB9-0BC95E88A73A}"/>
              </a:ext>
            </a:extLst>
          </p:cNvPr>
          <p:cNvSpPr txBox="1">
            <a:spLocks/>
          </p:cNvSpPr>
          <p:nvPr/>
        </p:nvSpPr>
        <p:spPr>
          <a:xfrm>
            <a:off x="9448800" y="6642000"/>
            <a:ext cx="2743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zh-TW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>
              <a:defRPr/>
            </a:pPr>
            <a:fld id="{407B21C2-949F-497F-800F-16CFB5EA9C4C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6</a:t>
            </a:fld>
            <a:endParaRPr lang="zh-TW" altLang="en-US" dirty="0">
              <a:solidFill>
                <a:prstClr val="black">
                  <a:lumMod val="65000"/>
                  <a:lumOff val="3500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Google Shape;91;p5">
            <a:extLst>
              <a:ext uri="{FF2B5EF4-FFF2-40B4-BE49-F238E27FC236}">
                <a16:creationId xmlns:a16="http://schemas.microsoft.com/office/drawing/2014/main" id="{D381CE45-D2C0-8EE8-E797-021E9851ECDC}"/>
              </a:ext>
            </a:extLst>
          </p:cNvPr>
          <p:cNvSpPr txBox="1">
            <a:spLocks/>
          </p:cNvSpPr>
          <p:nvPr/>
        </p:nvSpPr>
        <p:spPr>
          <a:xfrm>
            <a:off x="343592" y="1151612"/>
            <a:ext cx="4178532" cy="5924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Microsoft JhengHei"/>
              <a:buNone/>
              <a:defRPr sz="4400" b="1" kern="120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buClr>
                <a:schemeClr val="dk1"/>
              </a:buClr>
              <a:buSzPct val="220000"/>
            </a:pP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導入與驗證策略</a:t>
            </a:r>
            <a:endParaRPr lang="zh-TW" altLang="en-US" sz="24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0322CD6-62FC-4A4A-E8C8-C70BDFBC3A55}"/>
              </a:ext>
            </a:extLst>
          </p:cNvPr>
          <p:cNvSpPr txBox="1"/>
          <p:nvPr/>
        </p:nvSpPr>
        <p:spPr>
          <a:xfrm>
            <a:off x="343592" y="1709036"/>
            <a:ext cx="1069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說明解方如何實際導入，使用對象、場域、如何驗證示範案例，以及整體時程規劃</a:t>
            </a:r>
          </a:p>
        </p:txBody>
      </p:sp>
    </p:spTree>
    <p:extLst>
      <p:ext uri="{BB962C8B-B14F-4D97-AF65-F5344CB8AC3E}">
        <p14:creationId xmlns:p14="http://schemas.microsoft.com/office/powerpoint/2010/main" val="14553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B9BB5315-98DE-04A0-6DA9-62B0453D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7A5B3217-4D8D-EE25-7B43-9BA55B6D7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推動目標及策略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56D4C9FE-2CB7-5162-A2A9-8A0092FC4361}"/>
              </a:ext>
            </a:extLst>
          </p:cNvPr>
          <p:cNvSpPr txBox="1">
            <a:spLocks/>
          </p:cNvSpPr>
          <p:nvPr/>
        </p:nvSpPr>
        <p:spPr>
          <a:xfrm>
            <a:off x="9448800" y="6642000"/>
            <a:ext cx="2743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zh-TW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>
              <a:defRPr/>
            </a:pPr>
            <a:fld id="{407B21C2-949F-497F-800F-16CFB5EA9C4C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7</a:t>
            </a:fld>
            <a:endParaRPr lang="zh-TW" altLang="en-US" dirty="0">
              <a:solidFill>
                <a:prstClr val="black">
                  <a:lumMod val="65000"/>
                  <a:lumOff val="3500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Google Shape;91;p5">
            <a:extLst>
              <a:ext uri="{FF2B5EF4-FFF2-40B4-BE49-F238E27FC236}">
                <a16:creationId xmlns:a16="http://schemas.microsoft.com/office/drawing/2014/main" id="{E2B43EB3-4473-5CCA-7061-8F1A824FEABA}"/>
              </a:ext>
            </a:extLst>
          </p:cNvPr>
          <p:cNvSpPr txBox="1">
            <a:spLocks/>
          </p:cNvSpPr>
          <p:nvPr/>
        </p:nvSpPr>
        <p:spPr>
          <a:xfrm>
            <a:off x="343592" y="1059237"/>
            <a:ext cx="4178532" cy="5924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Microsoft JhengHei"/>
              <a:buNone/>
              <a:defRPr sz="4400" b="1" kern="120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buClr>
                <a:schemeClr val="dk1"/>
              </a:buClr>
              <a:buSzPct val="220000"/>
            </a:pP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擴散策略</a:t>
            </a:r>
            <a:endParaRPr lang="zh-TW" altLang="en-US" sz="24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74CFD4-FF0A-F273-22EE-6A8D2D2D0F14}"/>
              </a:ext>
            </a:extLst>
          </p:cNvPr>
          <p:cNvSpPr txBox="1"/>
          <p:nvPr/>
        </p:nvSpPr>
        <p:spPr>
          <a:xfrm>
            <a:off x="343592" y="1651689"/>
            <a:ext cx="1097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解方完成驗證後，預計帶動企業或產業為何，如何複製擴散，並能實際為中小企業帶來什麼幫助</a:t>
            </a:r>
          </a:p>
        </p:txBody>
      </p:sp>
    </p:spTree>
    <p:extLst>
      <p:ext uri="{BB962C8B-B14F-4D97-AF65-F5344CB8AC3E}">
        <p14:creationId xmlns:p14="http://schemas.microsoft.com/office/powerpoint/2010/main" val="829234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63CCB2EC-7955-3FD4-1845-F7D039C5B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D418F073-40D0-CB4C-1FB4-20717AF49D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推動目標及策略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8836A834-0B7D-C6C6-8C63-EFFEEB251DE6}"/>
              </a:ext>
            </a:extLst>
          </p:cNvPr>
          <p:cNvSpPr txBox="1">
            <a:spLocks/>
          </p:cNvSpPr>
          <p:nvPr/>
        </p:nvSpPr>
        <p:spPr>
          <a:xfrm>
            <a:off x="9448800" y="6642000"/>
            <a:ext cx="2743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zh-TW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>
              <a:defRPr/>
            </a:pPr>
            <a:fld id="{407B21C2-949F-497F-800F-16CFB5EA9C4C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8</a:t>
            </a:fld>
            <a:endParaRPr lang="zh-TW" altLang="en-US" dirty="0">
              <a:solidFill>
                <a:prstClr val="black">
                  <a:lumMod val="65000"/>
                  <a:lumOff val="3500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Google Shape;91;p5">
            <a:extLst>
              <a:ext uri="{FF2B5EF4-FFF2-40B4-BE49-F238E27FC236}">
                <a16:creationId xmlns:a16="http://schemas.microsoft.com/office/drawing/2014/main" id="{53C4E274-02C4-8612-BD41-E5A1001649C2}"/>
              </a:ext>
            </a:extLst>
          </p:cNvPr>
          <p:cNvSpPr txBox="1">
            <a:spLocks/>
          </p:cNvSpPr>
          <p:nvPr/>
        </p:nvSpPr>
        <p:spPr>
          <a:xfrm>
            <a:off x="343592" y="1133166"/>
            <a:ext cx="4178532" cy="5924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Microsoft JhengHei"/>
              <a:buNone/>
              <a:defRPr sz="4400" b="1" kern="120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buClr>
                <a:schemeClr val="dk1"/>
              </a:buClr>
              <a:buSzPct val="220000"/>
            </a:pP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自主資源投入</a:t>
            </a:r>
            <a:endParaRPr lang="zh-TW" altLang="en-US" sz="24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882FA74-E2DA-9A12-9AD6-AB0B2F0A5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230890"/>
              </p:ext>
            </p:extLst>
          </p:nvPr>
        </p:nvGraphicFramePr>
        <p:xfrm>
          <a:off x="838200" y="1981200"/>
          <a:ext cx="10515600" cy="417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8833">
                  <a:extLst>
                    <a:ext uri="{9D8B030D-6E8A-4147-A177-3AD203B41FA5}">
                      <a16:colId xmlns:a16="http://schemas.microsoft.com/office/drawing/2014/main" val="2520249561"/>
                    </a:ext>
                  </a:extLst>
                </a:gridCol>
                <a:gridCol w="2441722">
                  <a:extLst>
                    <a:ext uri="{9D8B030D-6E8A-4147-A177-3AD203B41FA5}">
                      <a16:colId xmlns:a16="http://schemas.microsoft.com/office/drawing/2014/main" val="2208314655"/>
                    </a:ext>
                  </a:extLst>
                </a:gridCol>
                <a:gridCol w="1775033">
                  <a:extLst>
                    <a:ext uri="{9D8B030D-6E8A-4147-A177-3AD203B41FA5}">
                      <a16:colId xmlns:a16="http://schemas.microsoft.com/office/drawing/2014/main" val="1101716223"/>
                    </a:ext>
                  </a:extLst>
                </a:gridCol>
                <a:gridCol w="5670012">
                  <a:extLst>
                    <a:ext uri="{9D8B030D-6E8A-4147-A177-3AD203B41FA5}">
                      <a16:colId xmlns:a16="http://schemas.microsoft.com/office/drawing/2014/main" val="4114961496"/>
                    </a:ext>
                  </a:extLst>
                </a:gridCol>
              </a:tblGrid>
              <a:tr h="835152">
                <a:tc gridSpan="2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投入資源</a:t>
                      </a:r>
                      <a:endParaRPr lang="en-US" alt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alt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zh-TW" alt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金額</a:t>
                      </a:r>
                      <a:r>
                        <a:rPr lang="en-US" alt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/%)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04057"/>
                  </a:ext>
                </a:extLst>
              </a:tr>
              <a:tr h="835152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114121"/>
                  </a:ext>
                </a:extLst>
              </a:tr>
              <a:tr h="835152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kern="15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sz="2000" kern="15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42308"/>
                  </a:ext>
                </a:extLst>
              </a:tr>
              <a:tr h="835152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kern="15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sz="2000" kern="15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5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67073"/>
                  </a:ext>
                </a:extLst>
              </a:tr>
              <a:tr h="83515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合計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32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072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2EE7E6E-3F81-82E6-D653-AF8AA02B2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19152EEB-7C6E-0DA7-1BF8-11C618C96D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預期效益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2FA4D94E-5026-E9A1-27CC-F347A4372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000"/>
            <a:ext cx="2743200" cy="216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21C2-949F-497F-800F-16CFB5EA9C4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DDF03D6-07FD-9940-E77C-8128994EE729}"/>
              </a:ext>
            </a:extLst>
          </p:cNvPr>
          <p:cNvSpPr txBox="1"/>
          <p:nvPr/>
        </p:nvSpPr>
        <p:spPr>
          <a:xfrm>
            <a:off x="343592" y="986586"/>
            <a:ext cx="11720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請說明解方導入後的效益：</a:t>
            </a:r>
            <a:endParaRPr lang="en-US" altLang="zh-TW" sz="2000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具體改善產業什麼問題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(Before/after)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推估帶動整個產業的營運指標及帶動商機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產值</a:t>
            </a:r>
            <a:endParaRPr lang="en-US" altLang="zh-TW" sz="2000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59BC115-4026-E6D4-12FE-B88BBE59D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60544"/>
              </p:ext>
            </p:extLst>
          </p:nvPr>
        </p:nvGraphicFramePr>
        <p:xfrm>
          <a:off x="9259746" y="4128891"/>
          <a:ext cx="274320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20927278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556099768"/>
                    </a:ext>
                  </a:extLst>
                </a:gridCol>
              </a:tblGrid>
              <a:tr h="2123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*參考資料</a:t>
                      </a:r>
                      <a:r>
                        <a:rPr lang="en-US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-</a:t>
                      </a:r>
                      <a:r>
                        <a:rPr lang="zh-TW" altLang="en-US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營運績效指標</a:t>
                      </a:r>
                      <a:r>
                        <a:rPr lang="en-US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zh-TW" altLang="en-US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可刪除</a:t>
                      </a:r>
                      <a:r>
                        <a:rPr lang="en-US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)</a:t>
                      </a:r>
                      <a:endParaRPr lang="zh-TW" altLang="zh-TW" sz="1400" kern="15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664432"/>
                  </a:ext>
                </a:extLst>
              </a:tr>
              <a:tr h="2123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生產流程指標</a:t>
                      </a:r>
                      <a:endParaRPr lang="zh-TW" altLang="zh-TW" sz="1400" kern="15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服務流程指標</a:t>
                      </a:r>
                      <a:endParaRPr lang="zh-TW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035346"/>
                  </a:ext>
                </a:extLst>
              </a:tr>
              <a:tr h="1252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設備良率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設備稼動率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產品研發效率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用料率</a:t>
                      </a:r>
                      <a:endParaRPr lang="zh-TW" altLang="zh-TW" sz="1400" kern="15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能源效率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維護效率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產品準交率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製程良率</a:t>
                      </a:r>
                      <a:endParaRPr lang="zh-TW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人工效率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庫存周轉率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會員成長率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回購率</a:t>
                      </a:r>
                      <a:endParaRPr lang="zh-TW" altLang="zh-TW" sz="1400" kern="15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客戶留存率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購買轉換率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顧客滿意度</a:t>
                      </a:r>
                    </a:p>
                    <a:p>
                      <a:pPr>
                        <a:buNone/>
                      </a:pPr>
                      <a:r>
                        <a:rPr lang="zh-TW" altLang="zh-TW" sz="1400" kern="15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客服效率</a:t>
                      </a:r>
                      <a:endParaRPr lang="zh-TW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314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761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24CE039D-B91D-958D-81BA-260AB670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BDAB149E-885A-1CB0-B8FD-6F2B3C341C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導入企業名單規劃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1CE0CA1F-0750-C1C2-A758-F6122096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000"/>
            <a:ext cx="2743200" cy="216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21C2-949F-497F-800F-16CFB5EA9C4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4F55596-CDCF-40C4-7625-E2D5A9F4874F}"/>
              </a:ext>
            </a:extLst>
          </p:cNvPr>
          <p:cNvSpPr txBox="1"/>
          <p:nvPr/>
        </p:nvSpPr>
        <p:spPr>
          <a:xfrm>
            <a:off x="343592" y="940286"/>
            <a:ext cx="11720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企業可依已接洽或預計合作導入之企業名單自行補充</a:t>
            </a:r>
            <a:endParaRPr lang="en-US" altLang="zh-TW" sz="2000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Google Shape;131;p10">
            <a:extLst>
              <a:ext uri="{FF2B5EF4-FFF2-40B4-BE49-F238E27FC236}">
                <a16:creationId xmlns:a16="http://schemas.microsoft.com/office/drawing/2014/main" id="{43AD4BE7-2480-A6D4-6896-1F734F679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3810093"/>
              </p:ext>
            </p:extLst>
          </p:nvPr>
        </p:nvGraphicFramePr>
        <p:xfrm>
          <a:off x="331588" y="1491551"/>
          <a:ext cx="11528824" cy="46189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94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543">
                  <a:extLst>
                    <a:ext uri="{9D8B030D-6E8A-4147-A177-3AD203B41FA5}">
                      <a16:colId xmlns:a16="http://schemas.microsoft.com/office/drawing/2014/main" val="3212444377"/>
                    </a:ext>
                  </a:extLst>
                </a:gridCol>
                <a:gridCol w="2670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3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序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預計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導入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中小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企業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產業別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icrosoft JhengHei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主要產品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/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服務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預計改善效益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sym typeface="Microsoft JhengHei"/>
                        </a:rPr>
                        <a:t>規劃導入期間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4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4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4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4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4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4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4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4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14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108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632</Words>
  <Application>Microsoft Office PowerPoint</Application>
  <PresentationFormat>寬螢幕</PresentationFormat>
  <Paragraphs>125</Paragraphs>
  <Slides>10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9" baseType="lpstr">
      <vt:lpstr>Microsoft YaHei</vt:lpstr>
      <vt:lpstr>Noto Sans Symbols</vt:lpstr>
      <vt:lpstr>StarSymbol</vt:lpstr>
      <vt:lpstr>微軟正黑體</vt:lpstr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一、產業背景需求/痛點</vt:lpstr>
      <vt:lpstr>二、共創團合作關聯圖</vt:lpstr>
      <vt:lpstr>三、推動目標及策略</vt:lpstr>
      <vt:lpstr>三、推動目標及策略</vt:lpstr>
      <vt:lpstr>三、推動目標及策略</vt:lpstr>
      <vt:lpstr>三、推動目標及策略</vt:lpstr>
      <vt:lpstr>四、預期效益</vt:lpstr>
      <vt:lpstr>附件、導入企業名單規劃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陳宛萱</dc:creator>
  <cp:lastModifiedBy>陳宛萱</cp:lastModifiedBy>
  <cp:revision>20</cp:revision>
  <dcterms:created xsi:type="dcterms:W3CDTF">2026-02-04T03:06:45Z</dcterms:created>
  <dcterms:modified xsi:type="dcterms:W3CDTF">2026-03-12T07:02:43Z</dcterms:modified>
</cp:coreProperties>
</file>